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84348" y="1841153"/>
            <a:ext cx="3575304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200"/>
              </a:lnSpc>
              <a:spcAft>
                <a:spcPts val="120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MigrationGPT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2753532" y="2526953"/>
            <a:ext cx="3636937" cy="346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30"/>
              </a:lnSpc>
              <a:spcAft>
                <a:spcPts val="1800"/>
              </a:spcAft>
              <a:buNone/>
            </a:pPr>
            <a:r>
              <a:rPr lang="en-US" sz="195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Dashboard Explained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2753532" y="3102173"/>
            <a:ext cx="363693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75"/>
              </a:lnSpc>
              <a:buNone/>
            </a:pPr>
            <a:r>
              <a:rPr lang="en-US" sz="1125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Cloud Migration Assessment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6195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Overview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71500" y="2404170"/>
            <a:ext cx="8001000" cy="792361"/>
          </a:xfrm>
          <a:prstGeom prst="roundRect">
            <a:avLst>
              <a:gd name="adj" fmla="val 96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71500" y="2408932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67738" y="2404170"/>
            <a:ext cx="0" cy="792361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3191768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0550" y="2404170"/>
            <a:ext cx="0" cy="792361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1050" y="2585145"/>
            <a:ext cx="776268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450"/>
              </a:spcAft>
              <a:buNone/>
            </a:pPr>
            <a:r>
              <a:rPr lang="en-US" sz="112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Migration Assessment</a:t>
            </a:r>
            <a:endParaRPr lang="en-US" sz="1125" dirty="0"/>
          </a:p>
        </p:txBody>
      </p:sp>
      <p:sp>
        <p:nvSpPr>
          <p:cNvPr id="9" name="Text 7"/>
          <p:cNvSpPr/>
          <p:nvPr/>
        </p:nvSpPr>
        <p:spPr>
          <a:xfrm>
            <a:off x="781050" y="2842320"/>
            <a:ext cx="7762684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infrastructure files using AWS Bedrock Claude Sonnet 4 to generate comprehensive migration proposals in minutes.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571500" y="3461296"/>
            <a:ext cx="1885950" cy="1108621"/>
          </a:xfrm>
          <a:prstGeom prst="roundRect">
            <a:avLst>
              <a:gd name="adj" fmla="val 68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17804" y="3623221"/>
            <a:ext cx="159334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spcAft>
                <a:spcPts val="300"/>
              </a:spcAft>
              <a:buNone/>
            </a:pPr>
            <a:r>
              <a:rPr lang="en-US" sz="3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717804" y="4248001"/>
            <a:ext cx="15933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09850" y="3461296"/>
            <a:ext cx="1885950" cy="1108621"/>
          </a:xfrm>
          <a:prstGeom prst="roundRect">
            <a:avLst>
              <a:gd name="adj" fmla="val 68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56154" y="3623221"/>
            <a:ext cx="159334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spcAft>
                <a:spcPts val="300"/>
              </a:spcAft>
              <a:buNone/>
            </a:pPr>
            <a:r>
              <a:rPr lang="en-US" sz="3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3300" dirty="0"/>
          </a:p>
        </p:txBody>
      </p:sp>
      <p:sp>
        <p:nvSpPr>
          <p:cNvPr id="15" name="Text 13"/>
          <p:cNvSpPr/>
          <p:nvPr/>
        </p:nvSpPr>
        <p:spPr>
          <a:xfrm>
            <a:off x="2756154" y="4248001"/>
            <a:ext cx="15933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Findings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648200" y="3461296"/>
            <a:ext cx="1885950" cy="1108621"/>
          </a:xfrm>
          <a:prstGeom prst="roundRect">
            <a:avLst>
              <a:gd name="adj" fmla="val 68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794504" y="3623221"/>
            <a:ext cx="159334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spcAft>
                <a:spcPts val="300"/>
              </a:spcAft>
              <a:buNone/>
            </a:pPr>
            <a:r>
              <a:rPr lang="en-US" sz="33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$485K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4794504" y="4248001"/>
            <a:ext cx="15933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686550" y="3461296"/>
            <a:ext cx="1885950" cy="1108621"/>
          </a:xfrm>
          <a:prstGeom prst="roundRect">
            <a:avLst>
              <a:gd name="adj" fmla="val 687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32854" y="3623221"/>
            <a:ext cx="1593342" cy="586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4620"/>
              </a:lnSpc>
              <a:spcAft>
                <a:spcPts val="300"/>
              </a:spcAft>
              <a:buNone/>
            </a:pPr>
            <a:r>
              <a:rPr lang="en-US" sz="3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26wk</a:t>
            </a:r>
            <a:endParaRPr lang="en-US" sz="3300" dirty="0"/>
          </a:p>
        </p:txBody>
      </p:sp>
      <p:sp>
        <p:nvSpPr>
          <p:cNvPr id="21" name="Text 19"/>
          <p:cNvSpPr/>
          <p:nvPr/>
        </p:nvSpPr>
        <p:spPr>
          <a:xfrm>
            <a:off x="6832854" y="4248001"/>
            <a:ext cx="1593342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61950"/>
            <a:ext cx="4537139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Components</a:t>
            </a:r>
            <a:endParaRPr lang="en-US" sz="2850" dirty="0"/>
          </a:p>
        </p:txBody>
      </p:sp>
      <p:pic>
        <p:nvPicPr>
          <p:cNvPr id="3" name="Image 0" descr="/tmp/rasterized-gradient-af80702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846189"/>
            <a:ext cx="2565350" cy="6627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14375" y="2989064"/>
            <a:ext cx="2325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75" dirty="0"/>
          </a:p>
        </p:txBody>
      </p:sp>
      <p:sp>
        <p:nvSpPr>
          <p:cNvPr id="5" name="Text 2"/>
          <p:cNvSpPr/>
          <p:nvPr/>
        </p:nvSpPr>
        <p:spPr>
          <a:xfrm>
            <a:off x="714375" y="3219450"/>
            <a:ext cx="2325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HTML/CSS/JS</a:t>
            </a:r>
            <a:endParaRPr lang="en-US" sz="825" dirty="0"/>
          </a:p>
        </p:txBody>
      </p:sp>
      <p:sp>
        <p:nvSpPr>
          <p:cNvPr id="6" name="Text 3"/>
          <p:cNvSpPr/>
          <p:nvPr/>
        </p:nvSpPr>
        <p:spPr>
          <a:xfrm>
            <a:off x="3289250" y="2846189"/>
            <a:ext cx="2565350" cy="662732"/>
          </a:xfrm>
          <a:prstGeom prst="roundRect">
            <a:avLst>
              <a:gd name="adj" fmla="val 1149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3432125" y="2989064"/>
            <a:ext cx="2325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API</a:t>
            </a:r>
            <a:endParaRPr lang="en-US" sz="975" dirty="0"/>
          </a:p>
        </p:txBody>
      </p:sp>
      <p:sp>
        <p:nvSpPr>
          <p:cNvPr id="8" name="Text 5"/>
          <p:cNvSpPr/>
          <p:nvPr/>
        </p:nvSpPr>
        <p:spPr>
          <a:xfrm>
            <a:off x="3432125" y="3219450"/>
            <a:ext cx="2325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Lambda FastAPI Python</a:t>
            </a:r>
            <a:endParaRPr lang="en-US" sz="825" dirty="0"/>
          </a:p>
        </p:txBody>
      </p:sp>
      <p:sp>
        <p:nvSpPr>
          <p:cNvPr id="9" name="Text 6"/>
          <p:cNvSpPr/>
          <p:nvPr/>
        </p:nvSpPr>
        <p:spPr>
          <a:xfrm>
            <a:off x="6007001" y="2846189"/>
            <a:ext cx="2565350" cy="662732"/>
          </a:xfrm>
          <a:prstGeom prst="roundRect">
            <a:avLst>
              <a:gd name="adj" fmla="val 11498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6149876" y="2989064"/>
            <a:ext cx="2325192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450"/>
              </a:spcAft>
              <a:buNone/>
            </a:pPr>
            <a:r>
              <a:rPr lang="en-US" sz="9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6149876" y="3219450"/>
            <a:ext cx="23251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Claude Sonnet 4</a:t>
            </a:r>
            <a:endParaRPr lang="en-US" sz="825" dirty="0"/>
          </a:p>
        </p:txBody>
      </p:sp>
      <p:sp>
        <p:nvSpPr>
          <p:cNvPr id="12" name="Text 9"/>
          <p:cNvSpPr/>
          <p:nvPr/>
        </p:nvSpPr>
        <p:spPr>
          <a:xfrm>
            <a:off x="571500" y="3661321"/>
            <a:ext cx="2565350" cy="579090"/>
          </a:xfrm>
          <a:prstGeom prst="roundRect">
            <a:avLst>
              <a:gd name="adj" fmla="val 13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0"/>
          <p:cNvSpPr/>
          <p:nvPr/>
        </p:nvSpPr>
        <p:spPr>
          <a:xfrm>
            <a:off x="571500" y="3666083"/>
            <a:ext cx="25653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32088" y="3661321"/>
            <a:ext cx="0" cy="57909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1500" y="4235648"/>
            <a:ext cx="25653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85788" y="3661321"/>
            <a:ext cx="0" cy="579090"/>
          </a:xfrm>
          <a:prstGeom prst="line">
            <a:avLst/>
          </a:prstGeom>
          <a:noFill/>
          <a:ln w="28575">
            <a:solidFill>
              <a:srgbClr val="16A34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14375" y="3785146"/>
            <a:ext cx="23446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Upload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714375" y="3983236"/>
            <a:ext cx="23446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Terraform CloudFormation YAML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3289250" y="3661321"/>
            <a:ext cx="2565350" cy="579090"/>
          </a:xfrm>
          <a:prstGeom prst="roundRect">
            <a:avLst>
              <a:gd name="adj" fmla="val 13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7"/>
          <p:cNvSpPr/>
          <p:nvPr/>
        </p:nvSpPr>
        <p:spPr>
          <a:xfrm>
            <a:off x="3289250" y="3666083"/>
            <a:ext cx="25653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49838" y="3661321"/>
            <a:ext cx="0" cy="57909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289250" y="4235648"/>
            <a:ext cx="25653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303538" y="3661321"/>
            <a:ext cx="0" cy="579090"/>
          </a:xfrm>
          <a:prstGeom prst="line">
            <a:avLst/>
          </a:prstGeom>
          <a:noFill/>
          <a:ln w="28575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432125" y="3785146"/>
            <a:ext cx="23446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Analysis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3432125" y="3983236"/>
            <a:ext cx="23446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Cost Timeline Security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6007001" y="3661321"/>
            <a:ext cx="2565350" cy="579090"/>
          </a:xfrm>
          <a:prstGeom prst="roundRect">
            <a:avLst>
              <a:gd name="adj" fmla="val 13159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4"/>
          <p:cNvSpPr/>
          <p:nvPr/>
        </p:nvSpPr>
        <p:spPr>
          <a:xfrm>
            <a:off x="6007001" y="3666083"/>
            <a:ext cx="25653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567589" y="3661321"/>
            <a:ext cx="0" cy="57909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007001" y="4235648"/>
            <a:ext cx="256535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021288" y="3661321"/>
            <a:ext cx="0" cy="579090"/>
          </a:xfrm>
          <a:prstGeom prst="line">
            <a:avLst/>
          </a:prstGeom>
          <a:noFill/>
          <a:ln w="28575">
            <a:solidFill>
              <a:srgbClr val="2563EB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149876" y="3785146"/>
            <a:ext cx="234462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300"/>
              </a:spcAft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Output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149876" y="3983236"/>
            <a:ext cx="234462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PDF HTML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542925"/>
            <a:ext cx="428453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Calculation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381000" y="2667149"/>
            <a:ext cx="8382000" cy="458986"/>
          </a:xfrm>
          <a:prstGeom prst="roundRect">
            <a:avLst>
              <a:gd name="adj" fmla="val 16602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381000" y="2671911"/>
            <a:ext cx="838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8237" y="2667149"/>
            <a:ext cx="0" cy="458986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000" y="3121372"/>
            <a:ext cx="8382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00050" y="2667149"/>
            <a:ext cx="0" cy="458986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450" y="2810024"/>
            <a:ext cx="822902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835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= (Security × 0.40) + (Compliance × 0.25) + (Technical × 0.20) + (Operational × 0.15)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81000" y="3202335"/>
            <a:ext cx="2038350" cy="1121866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86918" y="3326160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Gaps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486918" y="3510855"/>
            <a:ext cx="18265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95550" y="3202335"/>
            <a:ext cx="2038350" cy="1121866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601468" y="3326160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Compliance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601468" y="3510855"/>
            <a:ext cx="18265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610100" y="3202335"/>
            <a:ext cx="2038350" cy="1121866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716018" y="3326160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4716018" y="3510855"/>
            <a:ext cx="18265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667E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6724650" y="3202335"/>
            <a:ext cx="2038350" cy="1121866"/>
          </a:xfrm>
          <a:prstGeom prst="roundRect">
            <a:avLst>
              <a:gd name="adj" fmla="val 679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30568" y="3326160"/>
            <a:ext cx="182651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spcAft>
                <a:spcPts val="300"/>
              </a:spcAft>
              <a:buNone/>
            </a:pPr>
            <a:r>
              <a:rPr lang="en-US" sz="825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825" dirty="0"/>
          </a:p>
        </p:txBody>
      </p:sp>
      <p:sp>
        <p:nvSpPr>
          <p:cNvPr id="20" name="Text 18"/>
          <p:cNvSpPr/>
          <p:nvPr/>
        </p:nvSpPr>
        <p:spPr>
          <a:xfrm>
            <a:off x="6830568" y="3510855"/>
            <a:ext cx="1826514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780"/>
              </a:lnSpc>
              <a:buNone/>
            </a:pPr>
            <a:r>
              <a:rPr lang="en-US" sz="27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381000" y="4305300"/>
            <a:ext cx="42969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750" dirty="0">
                <a:solidFill>
                  <a:srgbClr val="9CA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algorithm analyzes security gaps, compliance issues, technical debt, and operational risks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Findings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71500" y="2228850"/>
            <a:ext cx="80010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71500" y="2233613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67738" y="2228850"/>
            <a:ext cx="0" cy="6000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2824163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0550" y="2228850"/>
            <a:ext cx="0" cy="600075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900" y="2352675"/>
            <a:ext cx="1418918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Unencrypted Data at Rest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23900" y="2571750"/>
            <a:ext cx="78792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instances without server-side encryption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571500" y="2905125"/>
            <a:ext cx="80010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71500" y="2909888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67738" y="2905125"/>
            <a:ext cx="0" cy="6000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" y="3500438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0550" y="2905125"/>
            <a:ext cx="0" cy="600075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900" y="3028950"/>
            <a:ext cx="1257246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Overly Permissive IAM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23900" y="3248025"/>
            <a:ext cx="78792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Wildcard permissions allowing unrestricted access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571500" y="3581400"/>
            <a:ext cx="80010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71500" y="3586163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67738" y="3581400"/>
            <a:ext cx="0" cy="6000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" y="4176712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550" y="3581400"/>
            <a:ext cx="0" cy="60007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900" y="3705225"/>
            <a:ext cx="1273793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MFA on Admin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23900" y="3924300"/>
            <a:ext cx="78792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Single-factor authentication on privileged accounts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71500" y="4257675"/>
            <a:ext cx="8001000" cy="600075"/>
          </a:xfrm>
          <a:prstGeom prst="roundRect">
            <a:avLst>
              <a:gd name="adj" fmla="val 12698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571500" y="4262438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67738" y="4257675"/>
            <a:ext cx="0" cy="600075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71500" y="4852988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0550" y="4257675"/>
            <a:ext cx="0" cy="600075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3900" y="4381500"/>
            <a:ext cx="1302332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Storage Buckets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23900" y="4600575"/>
            <a:ext cx="787927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Bef>
                <a:spcPts val="300"/>
              </a:spcBef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S3 buckets with public read access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Breakdown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71500" y="2469059"/>
            <a:ext cx="2616250" cy="620911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6275" y="2573834"/>
            <a:ext cx="2454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 Services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76275" y="2745284"/>
            <a:ext cx="24548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$145K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3263950" y="2469059"/>
            <a:ext cx="2616250" cy="620911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3368725" y="2573834"/>
            <a:ext cx="2454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Services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368725" y="2745284"/>
            <a:ext cx="24548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$98K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956399" y="2469059"/>
            <a:ext cx="2616250" cy="620911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061174" y="2573834"/>
            <a:ext cx="2454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061174" y="2745284"/>
            <a:ext cx="24548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$67K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71500" y="3166170"/>
            <a:ext cx="2616250" cy="620911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76275" y="3270945"/>
            <a:ext cx="2454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676275" y="3442395"/>
            <a:ext cx="24548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63950" y="3166170"/>
            <a:ext cx="2616250" cy="620911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3368725" y="3270945"/>
            <a:ext cx="2454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3368725" y="3442395"/>
            <a:ext cx="24548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$43K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956399" y="3166170"/>
            <a:ext cx="2616250" cy="620911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061174" y="3270945"/>
            <a:ext cx="245483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6061174" y="3442395"/>
            <a:ext cx="245483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$38K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71500" y="3929955"/>
            <a:ext cx="3962400" cy="620911"/>
          </a:xfrm>
          <a:prstGeom prst="roundRect">
            <a:avLst>
              <a:gd name="adj" fmla="val 12272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76275" y="4034730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Contingency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76275" y="4206180"/>
            <a:ext cx="38279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$42K</a:t>
            </a:r>
            <a:endParaRPr lang="en-US" sz="1350" dirty="0"/>
          </a:p>
        </p:txBody>
      </p:sp>
      <p:pic>
        <p:nvPicPr>
          <p:cNvPr id="24" name="Image 0" descr="/tmp/rasterized-gradient-6e43fe5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10100" y="3863280"/>
            <a:ext cx="3962400" cy="75426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714875" y="3968055"/>
            <a:ext cx="382790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4714875" y="4139505"/>
            <a:ext cx="3827907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$485K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Phases</a:t>
            </a:r>
            <a:endParaRPr lang="en-US" sz="2850" dirty="0"/>
          </a:p>
        </p:txBody>
      </p:sp>
      <p:pic>
        <p:nvPicPr>
          <p:cNvPr id="3" name="Image 0" descr="/tmp/rasterized-gradient-30fb7e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2322314"/>
            <a:ext cx="476250" cy="476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6642" y="2427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123950" y="2145357"/>
            <a:ext cx="7448550" cy="830312"/>
          </a:xfrm>
          <a:prstGeom prst="roundRect">
            <a:avLst>
              <a:gd name="adj" fmla="val 917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1247775" y="2269182"/>
            <a:ext cx="73449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Discovery &amp; Assessment</a:t>
            </a:r>
            <a:endParaRPr lang="en-US" sz="975" dirty="0"/>
          </a:p>
        </p:txBody>
      </p:sp>
      <p:sp>
        <p:nvSpPr>
          <p:cNvPr id="7" name="Text 4"/>
          <p:cNvSpPr/>
          <p:nvPr/>
        </p:nvSpPr>
        <p:spPr>
          <a:xfrm>
            <a:off x="1247775" y="2480518"/>
            <a:ext cx="73449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Infrastructure inventory dependency mapping baseline metrics</a:t>
            </a:r>
            <a:endParaRPr lang="en-US" sz="825" dirty="0"/>
          </a:p>
        </p:txBody>
      </p:sp>
      <p:sp>
        <p:nvSpPr>
          <p:cNvPr id="8" name="Text 5"/>
          <p:cNvSpPr/>
          <p:nvPr/>
        </p:nvSpPr>
        <p:spPr>
          <a:xfrm>
            <a:off x="1247775" y="2665214"/>
            <a:ext cx="73449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weeks</a:t>
            </a:r>
            <a:endParaRPr lang="en-US" sz="1050" dirty="0"/>
          </a:p>
        </p:txBody>
      </p:sp>
      <p:pic>
        <p:nvPicPr>
          <p:cNvPr id="9" name="Image 1" descr="/tmp/rasterized-gradient-10645f9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305026"/>
            <a:ext cx="476250" cy="4762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56642" y="3409801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123950" y="3128070"/>
            <a:ext cx="7448550" cy="830312"/>
          </a:xfrm>
          <a:prstGeom prst="roundRect">
            <a:avLst>
              <a:gd name="adj" fmla="val 917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1247775" y="3251895"/>
            <a:ext cx="73449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Planning &amp; Design</a:t>
            </a:r>
            <a:endParaRPr lang="en-US" sz="975" dirty="0"/>
          </a:p>
        </p:txBody>
      </p:sp>
      <p:sp>
        <p:nvSpPr>
          <p:cNvPr id="13" name="Text 9"/>
          <p:cNvSpPr/>
          <p:nvPr/>
        </p:nvSpPr>
        <p:spPr>
          <a:xfrm>
            <a:off x="1247775" y="3463230"/>
            <a:ext cx="73449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design security framework compliance validation</a:t>
            </a:r>
            <a:endParaRPr lang="en-US" sz="825" dirty="0"/>
          </a:p>
        </p:txBody>
      </p:sp>
      <p:sp>
        <p:nvSpPr>
          <p:cNvPr id="14" name="Text 10"/>
          <p:cNvSpPr/>
          <p:nvPr/>
        </p:nvSpPr>
        <p:spPr>
          <a:xfrm>
            <a:off x="1247775" y="3647926"/>
            <a:ext cx="73449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weeks</a:t>
            </a:r>
            <a:endParaRPr lang="en-US" sz="1050" dirty="0"/>
          </a:p>
        </p:txBody>
      </p:sp>
      <p:pic>
        <p:nvPicPr>
          <p:cNvPr id="15" name="Image 2" descr="/tmp/rasterized-gradient-42c042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87738"/>
            <a:ext cx="476250" cy="47625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56642" y="4392513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123950" y="4110782"/>
            <a:ext cx="7448550" cy="830312"/>
          </a:xfrm>
          <a:prstGeom prst="roundRect">
            <a:avLst>
              <a:gd name="adj" fmla="val 917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3"/>
          <p:cNvSpPr/>
          <p:nvPr/>
        </p:nvSpPr>
        <p:spPr>
          <a:xfrm>
            <a:off x="1247775" y="4234607"/>
            <a:ext cx="734491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Execution &amp; Optimization</a:t>
            </a:r>
            <a:endParaRPr lang="en-US" sz="975" dirty="0"/>
          </a:p>
        </p:txBody>
      </p:sp>
      <p:sp>
        <p:nvSpPr>
          <p:cNvPr id="19" name="Text 14"/>
          <p:cNvSpPr/>
          <p:nvPr/>
        </p:nvSpPr>
        <p:spPr>
          <a:xfrm>
            <a:off x="1247775" y="4445943"/>
            <a:ext cx="7344918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migration production workloads performance tuning</a:t>
            </a:r>
            <a:endParaRPr lang="en-US" sz="825" dirty="0"/>
          </a:p>
        </p:txBody>
      </p:sp>
      <p:sp>
        <p:nvSpPr>
          <p:cNvPr id="20" name="Text 15"/>
          <p:cNvSpPr/>
          <p:nvPr/>
        </p:nvSpPr>
        <p:spPr>
          <a:xfrm>
            <a:off x="1247775" y="4630638"/>
            <a:ext cx="7344918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70"/>
              </a:lnSpc>
              <a:spcBef>
                <a:spcPts val="300"/>
              </a:spcBef>
              <a:buNone/>
            </a:pPr>
            <a:r>
              <a:rPr lang="en-US" sz="105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weeks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Analysis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71500" y="2535585"/>
            <a:ext cx="3924300" cy="822871"/>
          </a:xfrm>
          <a:prstGeom prst="roundRect">
            <a:avLst>
              <a:gd name="adj" fmla="val 9260"/>
            </a:avLst>
          </a:prstGeom>
          <a:solidFill>
            <a:srgbClr val="FEE2E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71500" y="2540347"/>
            <a:ext cx="39243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491038" y="2535585"/>
            <a:ext cx="0" cy="822871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3353693"/>
            <a:ext cx="39243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0550" y="2535585"/>
            <a:ext cx="0" cy="822871"/>
          </a:xfrm>
          <a:prstGeom prst="line">
            <a:avLst/>
          </a:prstGeom>
          <a:noFill/>
          <a:ln w="38100">
            <a:solidFill>
              <a:srgbClr val="DC26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2950" y="2678460"/>
            <a:ext cx="36821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7F1D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State 3yr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42950" y="2895600"/>
            <a:ext cx="36821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$3.39M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648200" y="2535585"/>
            <a:ext cx="3924300" cy="822871"/>
          </a:xfrm>
          <a:prstGeom prst="roundRect">
            <a:avLst>
              <a:gd name="adj" fmla="val 926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48200" y="2540347"/>
            <a:ext cx="39243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67738" y="2535585"/>
            <a:ext cx="0" cy="822871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48200" y="3353693"/>
            <a:ext cx="39243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67250" y="2535585"/>
            <a:ext cx="0" cy="822871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9650" y="2678460"/>
            <a:ext cx="3682174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State 3yr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819650" y="2895600"/>
            <a:ext cx="368217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$1.895M</a:t>
            </a:r>
            <a:endParaRPr lang="en-US" sz="1800" dirty="0"/>
          </a:p>
        </p:txBody>
      </p:sp>
      <p:pic>
        <p:nvPicPr>
          <p:cNvPr id="17" name="Image 0" descr="/tmp/rasterized-gradient-781af96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3510855"/>
            <a:ext cx="8001000" cy="1040011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28027" y="3691830"/>
            <a:ext cx="24936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3-YEAR SAVINGS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728027" y="3863280"/>
            <a:ext cx="2493696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$2.1M</a:t>
            </a:r>
            <a:endParaRPr lang="en-US" sz="2850" dirty="0"/>
          </a:p>
        </p:txBody>
      </p:sp>
      <p:sp>
        <p:nvSpPr>
          <p:cNvPr id="20" name="Text 17"/>
          <p:cNvSpPr/>
          <p:nvPr/>
        </p:nvSpPr>
        <p:spPr>
          <a:xfrm>
            <a:off x="3325227" y="3691830"/>
            <a:ext cx="24936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750" dirty="0"/>
          </a:p>
        </p:txBody>
      </p:sp>
      <p:sp>
        <p:nvSpPr>
          <p:cNvPr id="21" name="Text 18"/>
          <p:cNvSpPr/>
          <p:nvPr/>
        </p:nvSpPr>
        <p:spPr>
          <a:xfrm>
            <a:off x="3325227" y="3863280"/>
            <a:ext cx="2493696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8.6x</a:t>
            </a:r>
            <a:endParaRPr lang="en-US" sz="2850" dirty="0"/>
          </a:p>
        </p:txBody>
      </p:sp>
      <p:sp>
        <p:nvSpPr>
          <p:cNvPr id="22" name="Text 19"/>
          <p:cNvSpPr/>
          <p:nvPr/>
        </p:nvSpPr>
        <p:spPr>
          <a:xfrm>
            <a:off x="5922426" y="3691830"/>
            <a:ext cx="249369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spcAft>
                <a:spcPts val="300"/>
              </a:spcAft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PAYBACK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5922426" y="3863280"/>
            <a:ext cx="2493696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990"/>
              </a:lnSpc>
              <a:buNone/>
            </a:pPr>
            <a:r>
              <a:rPr lang="en-US" sz="2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18mo</a:t>
            </a:r>
            <a:endParaRPr lang="en-US" sz="2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vs Production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71500" y="2800350"/>
            <a:ext cx="3924300" cy="325636"/>
          </a:xfrm>
          <a:prstGeom prst="roundRect">
            <a:avLst>
              <a:gd name="adj" fmla="val 17550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09981" y="2876550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7835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CURRENT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571500" y="3202186"/>
            <a:ext cx="3924300" cy="1083915"/>
          </a:xfrm>
          <a:prstGeom prst="roundRect">
            <a:avLst>
              <a:gd name="adj" fmla="val 703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695325" y="3326011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Static HTML Report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95325" y="3543151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Hardcoded demo numbers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695325" y="3705076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what customers get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95325" y="3867001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Professional UI UX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95325" y="4028926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Pages hosted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48200" y="2800350"/>
            <a:ext cx="3924300" cy="325636"/>
          </a:xfrm>
          <a:prstGeom prst="roundRect">
            <a:avLst>
              <a:gd name="adj" fmla="val 17550"/>
            </a:avLst>
          </a:prstGeom>
          <a:solidFill>
            <a:srgbClr val="DCFCE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4686681" y="2876550"/>
            <a:ext cx="3847338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buNone/>
            </a:pPr>
            <a:r>
              <a:rPr lang="en-US" sz="975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 BACKEND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648200" y="3202186"/>
            <a:ext cx="3924300" cy="1083915"/>
          </a:xfrm>
          <a:prstGeom prst="roundRect">
            <a:avLst>
              <a:gd name="adj" fmla="val 703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772025" y="3326011"/>
            <a:ext cx="3750183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Aft>
                <a:spcPts val="450"/>
              </a:spcAft>
              <a:buNone/>
            </a:pPr>
            <a:r>
              <a:rPr lang="en-US" sz="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AI Analysis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772025" y="3543151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Analyzes actual infra files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772025" y="3705076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risk calculations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772025" y="3867001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spcAft>
                <a:spcPts val="225"/>
              </a:spcAft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recommendations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772025" y="4028926"/>
            <a:ext cx="375018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Bedrock AI backend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742950"/>
            <a:ext cx="4284536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285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850" dirty="0"/>
          </a:p>
        </p:txBody>
      </p:sp>
      <p:sp>
        <p:nvSpPr>
          <p:cNvPr id="3" name="Text 1"/>
          <p:cNvSpPr/>
          <p:nvPr/>
        </p:nvSpPr>
        <p:spPr>
          <a:xfrm>
            <a:off x="571500" y="2110234"/>
            <a:ext cx="8001000" cy="605582"/>
          </a:xfrm>
          <a:prstGeom prst="roundRect">
            <a:avLst>
              <a:gd name="adj" fmla="val 125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571500" y="2114996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67738" y="2110234"/>
            <a:ext cx="0" cy="605582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2711053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0550" y="2110234"/>
            <a:ext cx="0" cy="605582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23900" y="2234059"/>
            <a:ext cx="78792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AI Analysis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723900" y="2445395"/>
            <a:ext cx="78792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system using AWS Bedrock Claude Sonnet 4 detects security gaps compliance violations and technical debt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571500" y="2868216"/>
            <a:ext cx="8001000" cy="605582"/>
          </a:xfrm>
          <a:prstGeom prst="roundRect">
            <a:avLst>
              <a:gd name="adj" fmla="val 125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571500" y="2872978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567738" y="2868216"/>
            <a:ext cx="0" cy="605582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" y="3469035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0550" y="2868216"/>
            <a:ext cx="0" cy="605582"/>
          </a:xfrm>
          <a:prstGeom prst="line">
            <a:avLst/>
          </a:prstGeom>
          <a:noFill/>
          <a:ln w="381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3900" y="2992041"/>
            <a:ext cx="78792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Accurate Calculations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23900" y="3203377"/>
            <a:ext cx="78792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risk scoring industry-benchmark cost estimation and phase-based timeline calculations provide enterprise migration roadmaps</a:t>
            </a:r>
            <a:endParaRPr lang="en-US" sz="825" dirty="0"/>
          </a:p>
        </p:txBody>
      </p:sp>
      <p:sp>
        <p:nvSpPr>
          <p:cNvPr id="17" name="Text 15"/>
          <p:cNvSpPr/>
          <p:nvPr/>
        </p:nvSpPr>
        <p:spPr>
          <a:xfrm>
            <a:off x="571500" y="3626197"/>
            <a:ext cx="8001000" cy="605582"/>
          </a:xfrm>
          <a:prstGeom prst="roundRect">
            <a:avLst>
              <a:gd name="adj" fmla="val 12583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571500" y="3630960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67738" y="3626197"/>
            <a:ext cx="0" cy="605582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1500" y="4227016"/>
            <a:ext cx="8001000" cy="0"/>
          </a:xfrm>
          <a:prstGeom prst="line">
            <a:avLst/>
          </a:prstGeom>
          <a:noFill/>
          <a:ln w="9525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0550" y="3626197"/>
            <a:ext cx="0" cy="605582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3900" y="3750022"/>
            <a:ext cx="7879271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Proven ROI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723900" y="3961358"/>
            <a:ext cx="787927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8.6x ROI with $2.1M in 3-year savings 45% cost reduction and 18-month payback demonstrates clear business value</a:t>
            </a:r>
            <a:endParaRPr lang="en-US" sz="825" dirty="0"/>
          </a:p>
        </p:txBody>
      </p:sp>
      <p:pic>
        <p:nvPicPr>
          <p:cNvPr id="24" name="Image 0" descr="/tmp/rasterized-gradient-61709b0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4384179"/>
            <a:ext cx="8001000" cy="592336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17791" y="4508004"/>
            <a:ext cx="7908417" cy="1732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365"/>
              </a:lnSpc>
              <a:spcAft>
                <a:spcPts val="300"/>
              </a:spcAft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bharathk2498.github.io/migrationgpt</a:t>
            </a:r>
            <a:endParaRPr lang="en-US" sz="975" dirty="0"/>
          </a:p>
        </p:txBody>
      </p:sp>
      <p:sp>
        <p:nvSpPr>
          <p:cNvPr id="26" name="Text 23"/>
          <p:cNvSpPr/>
          <p:nvPr/>
        </p:nvSpPr>
        <p:spPr>
          <a:xfrm>
            <a:off x="617791" y="4719340"/>
            <a:ext cx="790841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Bharath Kumar | Trianz AI Transformation Architect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Trianz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MigrationGPT Enterprise Dashboard Explained</dc:title>
  <dc:subject>PptxGenJS Presentation</dc:subject>
  <dc:creator>Bharath Kumar</dc:creator>
  <cp:lastModifiedBy>Bharath Kumar</cp:lastModifiedBy>
  <cp:revision>1</cp:revision>
  <dcterms:created xsi:type="dcterms:W3CDTF">2025-12-29T21:49:48Z</dcterms:created>
  <dcterms:modified xsi:type="dcterms:W3CDTF">2025-12-29T21:49:48Z</dcterms:modified>
</cp:coreProperties>
</file>